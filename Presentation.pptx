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9" r:id="rId22"/>
    <p:sldId id="280" r:id="rId23"/>
    <p:sldId id="282" r:id="rId24"/>
    <p:sldId id="283" r:id="rId25"/>
    <p:sldId id="284" r:id="rId26"/>
    <p:sldId id="285" r:id="rId27"/>
    <p:sldId id="286" r:id="rId28"/>
    <p:sldId id="287" r:id="rId2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86194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" cy="5143500"/>
          </a:xfrm>
          <a:prstGeom prst="rect">
            <a:avLst/>
          </a:prstGeom>
          <a:solidFill>
            <a:srgbClr val="252849"/>
          </a:solidFill>
          <a:ln w="12700">
            <a:solidFill>
              <a:srgbClr val="252849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389120" y="0"/>
            <a:ext cx="64008" cy="514350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41148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" y="15087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A896"/>
                </a:solidFill>
              </a:rPr>
              <a:t>IT3011 – Theory &amp; Practices in Statistical Modeling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411480" y="1828800"/>
            <a:ext cx="37490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Does Positive Audience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Experience Increase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Recommendation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Likelihood?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411480" y="38862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</a:rPr>
              <a:t>Final Viva Presentation  ·  DATA SCIENCE (sp) 3YS1 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754880" y="8229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6AD55"/>
                </a:solidFill>
              </a:rPr>
              <a:t>Group Members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754880" y="1353312"/>
            <a:ext cx="256032" cy="256032"/>
          </a:xfrm>
          <a:prstGeom prst="ellipse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166360" y="1325880"/>
            <a:ext cx="3474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chemeClr val="bg1"/>
                </a:solidFill>
              </a:rPr>
              <a:t>Devagiri D.M.U.A  (IT23537842</a:t>
            </a:r>
            <a:r>
              <a:rPr lang="en-US" dirty="0"/>
              <a:t> </a:t>
            </a:r>
            <a:r>
              <a:rPr lang="en-US" dirty="0">
                <a:solidFill>
                  <a:schemeClr val="bg1"/>
                </a:solidFill>
              </a:rPr>
              <a:t>) 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1" name="Shape 8"/>
          <p:cNvSpPr/>
          <p:nvPr/>
        </p:nvSpPr>
        <p:spPr>
          <a:xfrm>
            <a:off x="4754880" y="2048256"/>
            <a:ext cx="256032" cy="256032"/>
          </a:xfrm>
          <a:prstGeom prst="ellipse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166360" y="2020824"/>
            <a:ext cx="3474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chemeClr val="bg1"/>
                </a:solidFill>
              </a:rPr>
              <a:t>Yasmada K.Y  (IT23544772)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3" name="Shape 10"/>
          <p:cNvSpPr/>
          <p:nvPr/>
        </p:nvSpPr>
        <p:spPr>
          <a:xfrm>
            <a:off x="4754880" y="2743200"/>
            <a:ext cx="256032" cy="256032"/>
          </a:xfrm>
          <a:prstGeom prst="ellipse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166360" y="2715768"/>
            <a:ext cx="3611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chemeClr val="bg1"/>
                </a:solidFill>
              </a:rPr>
              <a:t>Wijethilaka P..L.A.W.K  (IT23629608)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5" name="Shape 12"/>
          <p:cNvSpPr/>
          <p:nvPr/>
        </p:nvSpPr>
        <p:spPr>
          <a:xfrm>
            <a:off x="4754880" y="3438144"/>
            <a:ext cx="256032" cy="256032"/>
          </a:xfrm>
          <a:prstGeom prst="ellipse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166360" y="3410712"/>
            <a:ext cx="3474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chemeClr val="bg1"/>
                </a:solidFill>
              </a:rPr>
              <a:t>Pathirana P.U.O.R  (IT23830332)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Presentation Outline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023360" cy="777240"/>
          </a:xfrm>
          <a:prstGeom prst="rect">
            <a:avLst/>
          </a:prstGeom>
          <a:solidFill>
            <a:srgbClr val="252849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66928" y="1170432"/>
            <a:ext cx="438912" cy="438912"/>
          </a:xfrm>
          <a:prstGeom prst="ellipse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66928" y="11704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</a:rPr>
              <a:t>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43000" y="107899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53E3E"/>
                </a:solidFill>
              </a:rPr>
              <a:t>Step A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43000" y="135331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Data Overview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4023360" cy="777240"/>
          </a:xfrm>
          <a:prstGeom prst="rect">
            <a:avLst/>
          </a:prstGeom>
          <a:solidFill>
            <a:srgbClr val="252849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66928" y="2130552"/>
            <a:ext cx="438912" cy="43891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66928" y="21305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</a:rPr>
              <a:t>B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43000" y="203911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A896"/>
                </a:solidFill>
              </a:rPr>
              <a:t>Step B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43000" y="231343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Feature Engineering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4023360" cy="777240"/>
          </a:xfrm>
          <a:prstGeom prst="rect">
            <a:avLst/>
          </a:prstGeom>
          <a:solidFill>
            <a:srgbClr val="252849"/>
          </a:solidFill>
          <a:ln w="12700">
            <a:solidFill>
              <a:srgbClr val="845E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66928" y="3090672"/>
            <a:ext cx="438912" cy="438912"/>
          </a:xfrm>
          <a:prstGeom prst="ellipse">
            <a:avLst/>
          </a:prstGeom>
          <a:solidFill>
            <a:srgbClr val="845EC2"/>
          </a:solidFill>
          <a:ln w="12700">
            <a:solidFill>
              <a:srgbClr val="845E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66928" y="30906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</a:rPr>
              <a:t>C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43000" y="299923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45EC2"/>
                </a:solidFill>
              </a:rPr>
              <a:t>Step C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143000" y="327355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Exploratory Data Analysis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886200"/>
            <a:ext cx="4023360" cy="777240"/>
          </a:xfrm>
          <a:prstGeom prst="rect">
            <a:avLst/>
          </a:prstGeom>
          <a:solidFill>
            <a:srgbClr val="252849"/>
          </a:solidFill>
          <a:ln w="12700">
            <a:solidFill>
              <a:srgbClr val="F6AD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66928" y="4050792"/>
            <a:ext cx="438912" cy="438912"/>
          </a:xfrm>
          <a:prstGeom prst="ellipse">
            <a:avLst/>
          </a:prstGeom>
          <a:solidFill>
            <a:srgbClr val="F6AD55"/>
          </a:solidFill>
          <a:ln w="12700">
            <a:solidFill>
              <a:srgbClr val="F6AD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66928" y="40507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</a:rPr>
              <a:t>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43000" y="395935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6AD55"/>
                </a:solidFill>
              </a:rPr>
              <a:t>Step D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143000" y="423367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Statistical Validation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846320" y="1005840"/>
            <a:ext cx="4023360" cy="777240"/>
          </a:xfrm>
          <a:prstGeom prst="rect">
            <a:avLst/>
          </a:prstGeom>
          <a:solidFill>
            <a:srgbClr val="252849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956048" y="1170432"/>
            <a:ext cx="438912" cy="438912"/>
          </a:xfrm>
          <a:prstGeom prst="ellipse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956048" y="11704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</a:rPr>
              <a:t>D2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532120" y="107899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B6CB0"/>
                </a:solidFill>
              </a:rPr>
              <a:t>Step D2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532120" y="135331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Formal Hypothesis Testing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846320" y="1965960"/>
            <a:ext cx="4023360" cy="777240"/>
          </a:xfrm>
          <a:prstGeom prst="rect">
            <a:avLst/>
          </a:prstGeom>
          <a:solidFill>
            <a:srgbClr val="252849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956048" y="2130552"/>
            <a:ext cx="438912" cy="438912"/>
          </a:xfrm>
          <a:prstGeom prst="ellipse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956048" y="21305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</a:rPr>
              <a:t>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532120" y="203911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53E3E"/>
                </a:solidFill>
              </a:rPr>
              <a:t>Step E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532120" y="231343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Predictive Modeling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846320" y="2926080"/>
            <a:ext cx="4023360" cy="777240"/>
          </a:xfrm>
          <a:prstGeom prst="rect">
            <a:avLst/>
          </a:prstGeom>
          <a:solidFill>
            <a:srgbClr val="252849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956048" y="3090672"/>
            <a:ext cx="438912" cy="43891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956048" y="30906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</a:rPr>
              <a:t>F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532120" y="299923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A896"/>
                </a:solidFill>
              </a:rPr>
              <a:t>Step F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532120" y="327355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Evaluation &amp; Comparison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846320" y="3886200"/>
            <a:ext cx="4023360" cy="777240"/>
          </a:xfrm>
          <a:prstGeom prst="rect">
            <a:avLst/>
          </a:prstGeom>
          <a:solidFill>
            <a:srgbClr val="252849"/>
          </a:solidFill>
          <a:ln w="12700">
            <a:solidFill>
              <a:srgbClr val="F6AD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4956048" y="4050792"/>
            <a:ext cx="438912" cy="438912"/>
          </a:xfrm>
          <a:prstGeom prst="ellipse">
            <a:avLst/>
          </a:prstGeom>
          <a:solidFill>
            <a:srgbClr val="F6AD55"/>
          </a:solidFill>
          <a:ln w="12700">
            <a:solidFill>
              <a:srgbClr val="F6AD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956048" y="40507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</a:rPr>
              <a:t>★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532120" y="395935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6AD55"/>
                </a:solidFill>
              </a:rPr>
              <a:t>Step ★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532120" y="423367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Key Findings &amp; Conclusion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2377440" cy="27432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INTRODUCTION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A2E"/>
                </a:solidFill>
              </a:rPr>
              <a:t>Research Problem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8412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1545336"/>
            <a:ext cx="320040" cy="320040"/>
          </a:xfrm>
          <a:prstGeom prst="ellipse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54533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1463040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</a:rPr>
              <a:t>YouTube generates over 500 hours of video every minute — recommendation is everything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240280"/>
            <a:ext cx="8412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02920" y="2459736"/>
            <a:ext cx="320040" cy="320040"/>
          </a:xfrm>
          <a:prstGeom prst="ellipse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245973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2377440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</a:rPr>
              <a:t>It is unclear which specific audience experience signals actually drive content recommendation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154680"/>
            <a:ext cx="8412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02920" y="3374136"/>
            <a:ext cx="320040" cy="320040"/>
          </a:xfrm>
          <a:prstGeom prst="ellipse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" y="337413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05840" y="3291840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</a:rPr>
              <a:t>Platforms and creators need to understand the relationship between satisfaction and sharing behaviour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4069080"/>
            <a:ext cx="8412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02920" y="4288536"/>
            <a:ext cx="320040" cy="320040"/>
          </a:xfrm>
          <a:prstGeom prst="ellipse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2920" y="428853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05840" y="4206240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</a:rPr>
              <a:t>Can a viewer's experience — measured through watch time, sentiment, and engagement — predict whether they will recommend content?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2377440" cy="27432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INTRODUCTION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A2E"/>
                </a:solidFill>
              </a:rPr>
              <a:t>Project Objectives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26060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2606040" cy="54864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41732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53E3E"/>
                </a:solidFill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" y="1874520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Acquire Dataset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19456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Extracted a 3,000+row YouTube viewer analytics dataset from KAGGLE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0" y="1280160"/>
            <a:ext cx="26060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00400" y="1280160"/>
            <a:ext cx="260604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37560" y="141732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A896"/>
                </a:solidFill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337560" y="1874520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Engineer Features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37560" y="219456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Build a composite Audience Experience Score from watch time, sentiment, and engagement signals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35040" y="1280160"/>
            <a:ext cx="26060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035040" y="1280160"/>
            <a:ext cx="2606040" cy="54864"/>
          </a:xfrm>
          <a:prstGeom prst="rect">
            <a:avLst/>
          </a:prstGeom>
          <a:solidFill>
            <a:srgbClr val="845EC2"/>
          </a:solidFill>
          <a:ln w="12700">
            <a:solidFill>
              <a:srgbClr val="845E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172200" y="141732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45EC2"/>
                </a:solidFill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172200" y="1874520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Explore &amp; Visualise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72200" y="219456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Run  EDA charts to identify patterns, distributions, and relationships between variables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3063240"/>
            <a:ext cx="26060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65760" y="3063240"/>
            <a:ext cx="2606040" cy="54864"/>
          </a:xfrm>
          <a:prstGeom prst="rect">
            <a:avLst/>
          </a:prstGeom>
          <a:solidFill>
            <a:srgbClr val="F6AD55"/>
          </a:solidFill>
          <a:ln w="12700">
            <a:solidFill>
              <a:srgbClr val="F6AD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2920" y="320040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6AD55"/>
                </a:solidFill>
              </a:rPr>
              <a:t>04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02920" y="3657600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Hypothesis Testing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" y="397764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Formally test H₀ vs H₁ at α = 0.05 using t-tests, chi-square and correlation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0" y="3063240"/>
            <a:ext cx="26060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200400" y="3063240"/>
            <a:ext cx="2606040" cy="54864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337560" y="320040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B6CB0"/>
                </a:solidFill>
              </a:rPr>
              <a:t>05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3337560" y="3657600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Predictive Modelling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337560" y="397764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Train Logistic Regression and Random Forest classifiers with 5-fold cross-validation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035040" y="3063240"/>
            <a:ext cx="26060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035040" y="3063240"/>
            <a:ext cx="2606040" cy="54864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172200" y="320040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53E3E"/>
                </a:solidFill>
              </a:rPr>
              <a:t>06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172200" y="3657600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Evaluate &amp; Conclude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172200" y="397764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Compare models on AUC, F1, precision, recall and draw conclusions on the hypothesis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228600"/>
            <a:ext cx="822960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Hypothesis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1005840"/>
            <a:ext cx="8229600" cy="1371600"/>
          </a:xfrm>
          <a:prstGeom prst="rect">
            <a:avLst/>
          </a:prstGeom>
          <a:solidFill>
            <a:srgbClr val="2D3748"/>
          </a:solidFill>
          <a:ln w="12700">
            <a:solidFill>
              <a:srgbClr val="7180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457200" y="1005840"/>
            <a:ext cx="73152" cy="1371600"/>
          </a:xfrm>
          <a:prstGeom prst="rect">
            <a:avLst/>
          </a:prstGeom>
          <a:solidFill>
            <a:srgbClr val="718096"/>
          </a:solidFill>
          <a:ln w="12700">
            <a:solidFill>
              <a:srgbClr val="7180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85800" y="109728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18096"/>
                </a:solidFill>
              </a:rPr>
              <a:t>H₀  —  Null Hypothesis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85800" y="1417320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0AEC0"/>
                </a:solidFill>
              </a:rPr>
              <a:t>Positive audience experience does NOT increase the likelihood of recommending entertainment content.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64234" y="2560320"/>
            <a:ext cx="8229600" cy="1371600"/>
          </a:xfrm>
          <a:prstGeom prst="rect">
            <a:avLst/>
          </a:prstGeom>
          <a:solidFill>
            <a:srgbClr val="0D3349"/>
          </a:solidFill>
          <a:ln w="1905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57200" y="2560320"/>
            <a:ext cx="73152" cy="13716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85800" y="265176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96"/>
                </a:solidFill>
              </a:rPr>
              <a:t>H₁  —  Alternative Hypothesis  (One-Tailed)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85800" y="2971800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Positive audience experience DOES increase the likelihood of recommending entertainment content.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57200" y="4114800"/>
            <a:ext cx="2560320" cy="822960"/>
          </a:xfrm>
          <a:prstGeom prst="rect">
            <a:avLst/>
          </a:prstGeom>
          <a:solidFill>
            <a:srgbClr val="252849"/>
          </a:solidFill>
          <a:ln w="19050">
            <a:solidFill>
              <a:srgbClr val="F6AD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48640" y="4169664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18096"/>
                </a:solidFill>
              </a:rPr>
              <a:t>Significance Level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548640" y="440740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6AD55"/>
                </a:solidFill>
              </a:rPr>
              <a:t>α = 0.05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3246120" y="4114800"/>
            <a:ext cx="2560320" cy="822960"/>
          </a:xfrm>
          <a:prstGeom prst="rect">
            <a:avLst/>
          </a:prstGeom>
          <a:solidFill>
            <a:srgbClr val="252849"/>
          </a:solidFill>
          <a:ln w="1905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3337560" y="4169664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18096"/>
                </a:solidFill>
              </a:rPr>
              <a:t>Test Direction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3337560" y="440740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A896"/>
                </a:solidFill>
              </a:rPr>
              <a:t>One-Tailed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035040" y="4114800"/>
            <a:ext cx="2560320" cy="822960"/>
          </a:xfrm>
          <a:prstGeom prst="rect">
            <a:avLst/>
          </a:prstGeom>
          <a:solidFill>
            <a:srgbClr val="252849"/>
          </a:solidFill>
          <a:ln w="1905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126480" y="4169664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18096"/>
                </a:solidFill>
              </a:rPr>
              <a:t>Decision Rule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6126480" y="440740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53E3E"/>
                </a:solidFill>
              </a:rPr>
              <a:t>Reject H₀ if p &lt; α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2377440" cy="27432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STEP A — DATA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A2E"/>
                </a:solidFill>
              </a:rPr>
              <a:t>Dataset Overview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1920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1920240" cy="54864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444752"/>
            <a:ext cx="1828800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53E3E"/>
                </a:solidFill>
              </a:rPr>
              <a:t>3,000+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11480" y="2027225"/>
            <a:ext cx="1828800" cy="3950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</a:rPr>
              <a:t>Viewer Records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14600" y="1261872"/>
            <a:ext cx="1920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514600" y="1261872"/>
            <a:ext cx="192024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560320" y="1444752"/>
            <a:ext cx="1828800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A896"/>
                </a:solidFill>
              </a:rPr>
              <a:t>21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2560320" y="2027225"/>
            <a:ext cx="1828800" cy="3950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</a:rPr>
              <a:t>Columns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1261872"/>
            <a:ext cx="1920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663440" y="1261872"/>
            <a:ext cx="1920240" cy="54864"/>
          </a:xfrm>
          <a:prstGeom prst="rect">
            <a:avLst/>
          </a:prstGeom>
          <a:solidFill>
            <a:srgbClr val="F6AD55"/>
          </a:solidFill>
          <a:ln w="12700">
            <a:solidFill>
              <a:srgbClr val="F6AD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09160" y="1444752"/>
            <a:ext cx="1828800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6AD55"/>
                </a:solidFill>
              </a:rPr>
              <a:t>~23%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4709160" y="2027225"/>
            <a:ext cx="1828800" cy="3950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</a:rPr>
              <a:t>Recommend Rate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12280" y="1261872"/>
            <a:ext cx="1920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812280" y="1261872"/>
            <a:ext cx="1920240" cy="54864"/>
          </a:xfrm>
          <a:prstGeom prst="rect">
            <a:avLst/>
          </a:prstGeom>
          <a:solidFill>
            <a:srgbClr val="845EC2"/>
          </a:solidFill>
          <a:ln w="12700">
            <a:solidFill>
              <a:srgbClr val="845E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858000" y="1444752"/>
            <a:ext cx="1828800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845EC2"/>
                </a:solidFill>
              </a:rPr>
              <a:t>6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6858000" y="2027225"/>
            <a:ext cx="1828800" cy="3950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</a:rPr>
              <a:t>Categories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697480"/>
            <a:ext cx="8412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65760" y="2697480"/>
            <a:ext cx="1828800" cy="457200"/>
          </a:xfrm>
          <a:prstGeom prst="rect">
            <a:avLst/>
          </a:prstGeom>
          <a:solidFill>
            <a:srgbClr val="E53E3E">
              <a:alpha val="10000"/>
            </a:srgbClr>
          </a:solidFill>
          <a:ln w="12700">
            <a:solidFill>
              <a:srgbClr val="E53E3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2920" y="27889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53E3E"/>
                </a:solidFill>
              </a:rPr>
              <a:t>Context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331720" y="2788920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category · device_type · time_of_day · country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227832"/>
            <a:ext cx="8412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65760" y="3227832"/>
            <a:ext cx="1828800" cy="457200"/>
          </a:xfrm>
          <a:prstGeom prst="rect">
            <a:avLst/>
          </a:prstGeom>
          <a:solidFill>
            <a:srgbClr val="00A896">
              <a:alpha val="10000"/>
            </a:srgbClr>
          </a:solidFill>
          <a:ln w="12700">
            <a:solidFill>
              <a:srgbClr val="00A89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02920" y="331927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A896"/>
                </a:solidFill>
              </a:rPr>
              <a:t>Experience Signals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331720" y="3319272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watch_time_ratio · sentiment_score · likes_ratio · replay_count · comment_count · shares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3758184"/>
            <a:ext cx="8412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65760" y="3758184"/>
            <a:ext cx="1828800" cy="457200"/>
          </a:xfrm>
          <a:prstGeom prst="rect">
            <a:avLst/>
          </a:prstGeom>
          <a:solidFill>
            <a:srgbClr val="845EC2">
              <a:alpha val="10000"/>
            </a:srgbClr>
          </a:solidFill>
          <a:ln w="12700">
            <a:solidFill>
              <a:srgbClr val="845EC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02920" y="384962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45EC2"/>
                </a:solidFill>
              </a:rPr>
              <a:t>Behavioural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331720" y="3849624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subscriber_before · notification_clicked · commented · shared · session_depth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02920" y="437997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718096"/>
                </a:solidFill>
              </a:rPr>
              <a:t>Target: recommended  (0 = No · 1 = Yes)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2377440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STEP B — FEATURES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A2E"/>
                </a:solidFill>
              </a:rPr>
              <a:t>Feature Engineering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8412480" cy="960120"/>
          </a:xfrm>
          <a:prstGeom prst="rect">
            <a:avLst/>
          </a:prstGeom>
          <a:solidFill>
            <a:srgbClr val="0D3349"/>
          </a:solidFill>
          <a:ln w="1905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335024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96"/>
                </a:solidFill>
              </a:rPr>
              <a:t>Audience Experience Score  (Composite Target Driver)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= 0.35 × watch_time_ratio  +  0.30 × sentiment_score  +  0.25 × engagement_score  +  0.10 × replay_ratio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377440"/>
            <a:ext cx="41148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2377440"/>
            <a:ext cx="54864" cy="694944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245059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53E3E"/>
                </a:solidFill>
              </a:rPr>
              <a:t>engagement_score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74320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Weighted sum of likes_ratio, log(comments), log(shares)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09160" y="2377440"/>
            <a:ext cx="41148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709160" y="2377440"/>
            <a:ext cx="54864" cy="69494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92040" y="245059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96"/>
                </a:solidFill>
              </a:rPr>
              <a:t>watch_sentiment_ix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92040" y="274320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watch_time_ratio × sentiment_score  — interaction term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3218688"/>
            <a:ext cx="41148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65760" y="3218688"/>
            <a:ext cx="54864" cy="694944"/>
          </a:xfrm>
          <a:prstGeom prst="rect">
            <a:avLst/>
          </a:prstGeom>
          <a:solidFill>
            <a:srgbClr val="845EC2"/>
          </a:solidFill>
          <a:ln w="12700">
            <a:solidFill>
              <a:srgbClr val="845E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" y="329184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45EC2"/>
                </a:solidFill>
              </a:rPr>
              <a:t>high_retention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358444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Binary flag: 1 if watch_time_ratio &gt; 0.70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09160" y="3218688"/>
            <a:ext cx="41148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709160" y="3218688"/>
            <a:ext cx="54864" cy="694944"/>
          </a:xfrm>
          <a:prstGeom prst="rect">
            <a:avLst/>
          </a:prstGeom>
          <a:solidFill>
            <a:srgbClr val="F6AD55"/>
          </a:solidFill>
          <a:ln w="12700">
            <a:solidFill>
              <a:srgbClr val="F6AD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92040" y="329184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6AD55"/>
                </a:solidFill>
              </a:rPr>
              <a:t>positive_sentiment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92040" y="358444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Binary flag: 1 if sentiment_score &gt; 0.30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4059936"/>
            <a:ext cx="41148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365760" y="4059936"/>
            <a:ext cx="54864" cy="694944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48640" y="413308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2B6CB0"/>
                </a:solidFill>
              </a:rPr>
              <a:t>log_comments / log_shares/ </a:t>
            </a:r>
            <a:r>
              <a:rPr lang="en-US" sz="1100" b="1" dirty="0">
                <a:solidFill>
                  <a:srgbClr val="FF0000"/>
                </a:solidFill>
              </a:rPr>
              <a:t>random_noise </a:t>
            </a:r>
          </a:p>
        </p:txBody>
      </p:sp>
      <p:sp>
        <p:nvSpPr>
          <p:cNvPr id="27" name="Text 25"/>
          <p:cNvSpPr/>
          <p:nvPr/>
        </p:nvSpPr>
        <p:spPr>
          <a:xfrm>
            <a:off x="548640" y="442569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log1p() transform to reduce right skew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random_noise as a control variable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09160" y="4059936"/>
            <a:ext cx="41148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709160" y="4059936"/>
            <a:ext cx="54864" cy="694944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892040" y="413308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53E3E"/>
                </a:solidFill>
              </a:rPr>
              <a:t>exp_tier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92040" y="442569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Low / Medium / High  (pd.cut into 3 equal bins)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2377440" cy="274320"/>
          </a:xfrm>
          <a:prstGeom prst="rect">
            <a:avLst/>
          </a:prstGeom>
          <a:solidFill>
            <a:srgbClr val="845EC2"/>
          </a:solidFill>
          <a:ln w="12700">
            <a:solidFill>
              <a:srgbClr val="845E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STEP C — EDA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A2E"/>
                </a:solidFill>
              </a:rPr>
              <a:t>C1 — Target Distribution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8412480" cy="3520440"/>
          </a:xfrm>
          <a:prstGeom prst="rect">
            <a:avLst/>
          </a:prstGeom>
          <a:solidFill>
            <a:srgbClr val="F0F4F8"/>
          </a:solidFill>
          <a:ln w="19050">
            <a:solidFill>
              <a:srgbClr val="845E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8412480" cy="292608"/>
          </a:xfrm>
          <a:prstGeom prst="rect">
            <a:avLst/>
          </a:prstGeom>
          <a:solidFill>
            <a:srgbClr val="845EC2"/>
          </a:solidFill>
          <a:ln w="12700">
            <a:solidFill>
              <a:srgbClr val="845E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252728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</a:rPr>
              <a:t>Chart C1 · Target Distribution (Bar + Pie)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18096"/>
                </a:solidFill>
              </a:rPr>
              <a:t>📥  Paste your chart image here (right-click → Insert Picture in PowerPoint)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4828032"/>
            <a:ext cx="8412480" cy="256032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484632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50" dirty="0">
                <a:solidFill>
                  <a:srgbClr val="4A5568"/>
                </a:solidFill>
              </a:rPr>
              <a:t>💡  </a:t>
            </a:r>
            <a:r>
              <a:rPr lang="en-US" sz="900" dirty="0"/>
              <a:t>77.9% Not Recommended and 22.1% Recommended</a:t>
            </a:r>
            <a:endParaRPr lang="en-US" sz="8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A7FFAAA-A4A2-CF4F-C293-8FD15D0E52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348" y="1216152"/>
            <a:ext cx="8577332" cy="359359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2377440" cy="274320"/>
          </a:xfrm>
          <a:prstGeom prst="rect">
            <a:avLst/>
          </a:prstGeom>
          <a:solidFill>
            <a:srgbClr val="845EC2"/>
          </a:solidFill>
          <a:ln w="12700">
            <a:solidFill>
              <a:srgbClr val="845E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STEP C — EDA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A2E"/>
                </a:solidFill>
              </a:rPr>
              <a:t>C3 — Correlation Heatmap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8412480" cy="3520440"/>
          </a:xfrm>
          <a:prstGeom prst="rect">
            <a:avLst/>
          </a:prstGeom>
          <a:solidFill>
            <a:srgbClr val="F0F4F8"/>
          </a:solidFill>
          <a:ln w="19050">
            <a:solidFill>
              <a:srgbClr val="845E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8412480" cy="292608"/>
          </a:xfrm>
          <a:prstGeom prst="rect">
            <a:avLst/>
          </a:prstGeom>
          <a:solidFill>
            <a:srgbClr val="845EC2"/>
          </a:solidFill>
          <a:ln w="12700">
            <a:solidFill>
              <a:srgbClr val="845E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252728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</a:rPr>
              <a:t>Chart C3 · Feature Correlation Heatmap (lower triangle)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18096"/>
                </a:solidFill>
              </a:rPr>
              <a:t>📥  Paste your chart image here (right-click → Insert Picture in PowerPoint)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4828032"/>
            <a:ext cx="8412480" cy="256032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484632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A5568"/>
                </a:solidFill>
              </a:rPr>
              <a:t>💡  audience_experience_score, watch sentiment, sentiment score and watch_time_ratio show the strongest correlation with 'recommended</a:t>
            </a:r>
            <a:endParaRPr lang="en-US" sz="8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67AD6C3-DE24-DF31-18D2-E10600BA3A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353" y="1216152"/>
            <a:ext cx="8628621" cy="359359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2377440" cy="274320"/>
          </a:xfrm>
          <a:prstGeom prst="rect">
            <a:avLst/>
          </a:prstGeom>
          <a:solidFill>
            <a:srgbClr val="845EC2"/>
          </a:solidFill>
          <a:ln w="12700">
            <a:solidFill>
              <a:srgbClr val="845E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STEP C — EDA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A2E"/>
                </a:solidFill>
              </a:rPr>
              <a:t>C4 — Key Feature Boxplots by Recommendation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8412480" cy="3520440"/>
          </a:xfrm>
          <a:prstGeom prst="rect">
            <a:avLst/>
          </a:prstGeom>
          <a:solidFill>
            <a:srgbClr val="F0F4F8"/>
          </a:solidFill>
          <a:ln w="1905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8412480" cy="292608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252728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</a:rPr>
              <a:t>Chart C4 · Notched Boxplots: 6 features split by Recommended vs Not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18096"/>
                </a:solidFill>
              </a:rPr>
              <a:t>📥  Paste your chart image here (right-click → Insert Picture in PowerPoint)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4828032"/>
            <a:ext cx="8412480" cy="256032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484632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A5568"/>
                </a:solidFill>
              </a:rPr>
              <a:t>💡  All 6 experience features show that Rec performed better. clearly separated medians between the two groups. Non-overlapping notches confirm statistically significant differences.</a:t>
            </a:r>
            <a:endParaRPr lang="en-US" sz="8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4009A05-28C8-7050-6AB4-8A0939ED95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161288"/>
            <a:ext cx="8496885" cy="359359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2377440" cy="274320"/>
          </a:xfrm>
          <a:prstGeom prst="rect">
            <a:avLst/>
          </a:prstGeom>
          <a:solidFill>
            <a:srgbClr val="845EC2"/>
          </a:solidFill>
          <a:ln w="12700">
            <a:solidFill>
              <a:srgbClr val="845E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STEP C — EDA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A2E"/>
                </a:solidFill>
              </a:rPr>
              <a:t>C5 — Recommendation Rate by Content Category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8412480" cy="3520440"/>
          </a:xfrm>
          <a:prstGeom prst="rect">
            <a:avLst/>
          </a:prstGeom>
          <a:solidFill>
            <a:srgbClr val="F0F4F8"/>
          </a:solidFill>
          <a:ln w="19050">
            <a:solidFill>
              <a:srgbClr val="F6AD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8412480" cy="292608"/>
          </a:xfrm>
          <a:prstGeom prst="rect">
            <a:avLst/>
          </a:prstGeom>
          <a:solidFill>
            <a:srgbClr val="F6AD55"/>
          </a:solidFill>
          <a:ln w="12700">
            <a:solidFill>
              <a:srgbClr val="F6AD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252728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</a:rPr>
              <a:t>Chart C5 · Bar Chart + Bubble Scatter: Category vs Rec. Rate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18096"/>
                </a:solidFill>
              </a:rPr>
              <a:t>📥  Paste your chart image here (right-click → Insert Picture in PowerPoint)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4828032"/>
            <a:ext cx="8412480" cy="256032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484632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A5568"/>
                </a:solidFill>
              </a:rPr>
              <a:t>💡  Education and Tech Reviews lead in recommendation rates — audiences who finish tutorials are more likely to recommend. Comedy and Vlogs trail behind.</a:t>
            </a:r>
            <a:endParaRPr lang="en-US" sz="8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13F34B7-5A40-4B13-D08B-9AAAB674B8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489" y="1234440"/>
            <a:ext cx="8560191" cy="353872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2377440" cy="274320"/>
          </a:xfrm>
          <a:prstGeom prst="rect">
            <a:avLst/>
          </a:prstGeom>
          <a:solidFill>
            <a:srgbClr val="845EC2"/>
          </a:solidFill>
          <a:ln w="12700">
            <a:solidFill>
              <a:srgbClr val="845E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STEP C — EDA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A2E"/>
                </a:solidFill>
              </a:rPr>
              <a:t>C6 — Watch Time × Sentiment Density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8412480" cy="3520440"/>
          </a:xfrm>
          <a:prstGeom prst="rect">
            <a:avLst/>
          </a:prstGeom>
          <a:solidFill>
            <a:srgbClr val="F0F4F8"/>
          </a:solidFill>
          <a:ln w="1905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8412480" cy="2926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252728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</a:rPr>
              <a:t>Chart C6 · Hexbin 2D Density: Watch Time Ratio vs Sentiment Score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18096"/>
                </a:solidFill>
              </a:rPr>
              <a:t>📥  Paste your chart image here (right-click → Insert Picture in PowerPoint)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4828032"/>
            <a:ext cx="8412480" cy="256032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484632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A5568"/>
                </a:solidFill>
              </a:rPr>
              <a:t>💡  Recommended viewers cluster in the top-right zone (high watch time + positive sentiment). Non-recommenders are spread across the region.</a:t>
            </a:r>
            <a:endParaRPr lang="en-US" sz="8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DA89B6B-F496-A066-4F8F-F6BD9F582C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185" y="1216153"/>
            <a:ext cx="8581292" cy="355701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2377440" cy="274320"/>
          </a:xfrm>
          <a:prstGeom prst="rect">
            <a:avLst/>
          </a:prstGeom>
          <a:solidFill>
            <a:srgbClr val="845EC2"/>
          </a:solidFill>
          <a:ln w="12700">
            <a:solidFill>
              <a:srgbClr val="845E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STEP C — EDA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A2E"/>
                </a:solidFill>
              </a:rPr>
              <a:t>C9 — Experience Tier vs Recommendation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8412480" cy="3520440"/>
          </a:xfrm>
          <a:prstGeom prst="rect">
            <a:avLst/>
          </a:prstGeom>
          <a:solidFill>
            <a:srgbClr val="F0F4F8"/>
          </a:solidFill>
          <a:ln w="1905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8412480" cy="292608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252728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</a:rPr>
              <a:t>Chart C9 · Bar + Grouped Bar: Exp. Tier vs Recommendation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18096"/>
                </a:solidFill>
              </a:rPr>
              <a:t>📥  Paste your chart image here (right-click → Insert Picture in PowerPoint)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4828032"/>
            <a:ext cx="8412480" cy="256032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484632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A5568"/>
                </a:solidFill>
              </a:rPr>
              <a:t>💡  As experience tier rises from Low → Medium → High, recommendation rate increases monotonically. This is direct visual evidence supporting the hypothesis.</a:t>
            </a:r>
            <a:endParaRPr lang="en-US" sz="8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B9C19A8-38AA-988B-9907-D96EBDD5F5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354" y="1234440"/>
            <a:ext cx="8588326" cy="353872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2377440" cy="274320"/>
          </a:xfrm>
          <a:prstGeom prst="rect">
            <a:avLst/>
          </a:prstGeom>
          <a:solidFill>
            <a:srgbClr val="F6AD55"/>
          </a:solidFill>
          <a:ln w="12700">
            <a:solidFill>
              <a:srgbClr val="F6AD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STEP D — STATISTICS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A2E"/>
                </a:solidFill>
              </a:rPr>
              <a:t>Statistical Validation — Overview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8412480" cy="329184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31673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Test Type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286000" y="131673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Features Tested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217920" y="131673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Result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046720" y="131673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Significant?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1627632"/>
            <a:ext cx="84124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174650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5568"/>
                </a:solidFill>
              </a:rPr>
              <a:t>Independent T-Test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286000" y="174650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audience_experience_score  (Cohen's d = 0.827, Large)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217920" y="174650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p = 1.20e-80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046720" y="1737360"/>
            <a:ext cx="640080" cy="274320"/>
          </a:xfrm>
          <a:prstGeom prst="rect">
            <a:avLst/>
          </a:prstGeom>
          <a:solidFill>
            <a:srgbClr val="C6F6D5"/>
          </a:solidFill>
          <a:ln w="10160">
            <a:solidFill>
              <a:srgbClr val="38A1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046720" y="17373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</a:rPr>
              <a:t>✅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231136"/>
            <a:ext cx="8412480" cy="548640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2920" y="23500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5568"/>
                </a:solidFill>
              </a:rPr>
              <a:t>Independent T-Test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286000" y="235000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sentiment_score  (Cohen's d = 0.645, Medium)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217920" y="23500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p = 2.75e-54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046720" y="2340864"/>
            <a:ext cx="640080" cy="274320"/>
          </a:xfrm>
          <a:prstGeom prst="rect">
            <a:avLst/>
          </a:prstGeom>
          <a:solidFill>
            <a:srgbClr val="C6F6D5"/>
          </a:solidFill>
          <a:ln w="10160">
            <a:solidFill>
              <a:srgbClr val="38A1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046720" y="23408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</a:rPr>
              <a:t>✅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2834640"/>
            <a:ext cx="84124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2920" y="295351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5568"/>
                </a:solidFill>
              </a:rPr>
              <a:t>Independent T-Test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286000" y="295351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watch_time_ratio  (Cohen's d = 0.461, Small)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217920" y="295351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p = 5.89e-30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046720" y="2944368"/>
            <a:ext cx="640080" cy="274320"/>
          </a:xfrm>
          <a:prstGeom prst="rect">
            <a:avLst/>
          </a:prstGeom>
          <a:solidFill>
            <a:srgbClr val="C6F6D5"/>
          </a:solidFill>
          <a:ln w="10160">
            <a:solidFill>
              <a:srgbClr val="38A1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046720" y="294436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</a:rPr>
              <a:t>✅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3438144"/>
            <a:ext cx="8412480" cy="548640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02920" y="355701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5568"/>
                </a:solidFill>
              </a:rPr>
              <a:t>Chi-Square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286000" y="355701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exp_tier vs recommended  (Cramér's V = 0.269)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217920" y="355701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p = 1.24e-55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046720" y="3547872"/>
            <a:ext cx="640080" cy="274320"/>
          </a:xfrm>
          <a:prstGeom prst="rect">
            <a:avLst/>
          </a:prstGeom>
          <a:solidFill>
            <a:srgbClr val="C6F6D5"/>
          </a:solidFill>
          <a:ln w="10160">
            <a:solidFill>
              <a:srgbClr val="38A1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8046720" y="35478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</a:rPr>
              <a:t>✅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65760" y="4041648"/>
            <a:ext cx="84124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02920" y="4160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5568"/>
                </a:solidFill>
              </a:rPr>
              <a:t>Chi-Square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286000" y="41605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time_of_day vs recommended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217920" y="4160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p = 0.0141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8046720" y="4151376"/>
            <a:ext cx="640080" cy="274320"/>
          </a:xfrm>
          <a:prstGeom prst="rect">
            <a:avLst/>
          </a:prstGeom>
          <a:solidFill>
            <a:srgbClr val="C6F6D5"/>
          </a:solidFill>
          <a:ln w="10160">
            <a:solidFill>
              <a:srgbClr val="38A1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8046720" y="415137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</a:rPr>
              <a:t>✅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65760" y="4645152"/>
            <a:ext cx="8412480" cy="548640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02920" y="476402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5568"/>
                </a:solidFill>
              </a:rPr>
              <a:t>Point-Biserial r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286000" y="476402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random_noise vs recommended  (control)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217920" y="476402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p = 0.866 — not sig.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8046720" y="4754880"/>
            <a:ext cx="640080" cy="274320"/>
          </a:xfrm>
          <a:prstGeom prst="rect">
            <a:avLst/>
          </a:prstGeom>
          <a:solidFill>
            <a:srgbClr val="FED7D7"/>
          </a:solidFill>
          <a:ln w="1016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8046720" y="47548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</a:rPr>
              <a:t>❌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2377440" cy="274320"/>
          </a:xfrm>
          <a:prstGeom prst="rect">
            <a:avLst/>
          </a:prstGeom>
          <a:solidFill>
            <a:srgbClr val="F6AD55"/>
          </a:solidFill>
          <a:ln w="12700">
            <a:solidFill>
              <a:srgbClr val="F6AD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STEP D — STATISTICS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A2E"/>
                </a:solidFill>
              </a:rPr>
              <a:t>D1 — Statistical Significance of All Features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8412480" cy="3520440"/>
          </a:xfrm>
          <a:prstGeom prst="rect">
            <a:avLst/>
          </a:prstGeom>
          <a:solidFill>
            <a:srgbClr val="F0F4F8"/>
          </a:solidFill>
          <a:ln w="19050">
            <a:solidFill>
              <a:srgbClr val="F6AD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8412480" cy="292608"/>
          </a:xfrm>
          <a:prstGeom prst="rect">
            <a:avLst/>
          </a:prstGeom>
          <a:solidFill>
            <a:srgbClr val="F6AD55"/>
          </a:solidFill>
          <a:ln w="12700">
            <a:solidFill>
              <a:srgbClr val="F6AD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252728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</a:rPr>
              <a:t>Chart D1 · Cohen's d (Effect Size) + -log10(p-value) per Feature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18096"/>
                </a:solidFill>
              </a:rPr>
              <a:t>📥  Paste your chart image here (right-click → Insert Picture in PowerPoint)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4828032"/>
            <a:ext cx="8412480" cy="256032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484632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A5568"/>
                </a:solidFill>
              </a:rPr>
              <a:t>💡  Green bars = significant (p &lt; 0.05). The control variable </a:t>
            </a:r>
            <a:r>
              <a:rPr lang="en-US" sz="850" dirty="0" err="1">
                <a:solidFill>
                  <a:srgbClr val="4A5568"/>
                </a:solidFill>
              </a:rPr>
              <a:t>log_comments</a:t>
            </a:r>
            <a:r>
              <a:rPr lang="en-US" sz="850" dirty="0">
                <a:solidFill>
                  <a:srgbClr val="4A5568"/>
                </a:solidFill>
              </a:rPr>
              <a:t>  and </a:t>
            </a:r>
            <a:r>
              <a:rPr lang="en-US" sz="850" dirty="0" err="1">
                <a:solidFill>
                  <a:srgbClr val="4A5568"/>
                </a:solidFill>
              </a:rPr>
              <a:t>log_shares</a:t>
            </a:r>
            <a:r>
              <a:rPr lang="en-US" sz="850" dirty="0">
                <a:solidFill>
                  <a:srgbClr val="4A5568"/>
                </a:solidFill>
              </a:rPr>
              <a:t> are red bars . Effect sizes confirm audience experience score and sentiment_score are the strongest drivers.</a:t>
            </a:r>
            <a:endParaRPr lang="en-US" sz="8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35C4B38-01A0-1407-1137-78AE61B2FB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388" y="1143000"/>
            <a:ext cx="8581292" cy="366674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2377440" cy="2743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STEP D2 — INFERENCE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Formal Hypothesis Testing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A896"/>
                </a:solidFill>
              </a:rPr>
              <a:t>α = 0.05  ·  Decision: Reject H₀ if p-value &lt; α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72768"/>
            <a:ext cx="8229600" cy="1463040"/>
          </a:xfrm>
          <a:prstGeom prst="rect">
            <a:avLst/>
          </a:prstGeom>
          <a:solidFill>
            <a:srgbClr val="0D3349"/>
          </a:solidFill>
          <a:ln w="1905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66420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A896"/>
                </a:solidFill>
              </a:rPr>
              <a:t>MASTER TEST  ·  Does positive audience experience increase recommendation likelihood?  (One-Tailed T-Test)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40080" y="1993392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6AD55"/>
                </a:solidFill>
              </a:rPr>
              <a:t>H₀ REJECTED  ✅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846320" y="1993392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p = 1.20e-80   &lt;   α = 0.05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Cohen's d = 0.827  (Large effect)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200400"/>
            <a:ext cx="2606040" cy="1463040"/>
          </a:xfrm>
          <a:prstGeom prst="rect">
            <a:avLst/>
          </a:prstGeom>
          <a:solidFill>
            <a:srgbClr val="252849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4360" y="329184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96"/>
                </a:solidFill>
              </a:rPr>
              <a:t>Watch Time Ratio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3593592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18096"/>
                </a:solidFill>
              </a:rPr>
              <a:t>T-Test (one-tailed)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94360" y="384048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p = 5.89e-30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" y="4133088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6AD55"/>
                </a:solidFill>
              </a:rPr>
              <a:t>Reject H₀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91840" y="3200400"/>
            <a:ext cx="2606040" cy="1463040"/>
          </a:xfrm>
          <a:prstGeom prst="rect">
            <a:avLst/>
          </a:prstGeom>
          <a:solidFill>
            <a:srgbClr val="252849"/>
          </a:solidFill>
          <a:ln w="12700">
            <a:solidFill>
              <a:srgbClr val="845E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429000" y="329184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45EC2"/>
                </a:solidFill>
              </a:rPr>
              <a:t>Chi-Sq: Exp. Tier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29000" y="3593592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18096"/>
                </a:solidFill>
              </a:rPr>
              <a:t>Chi-Square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429000" y="384048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p = 1.24e-55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29000" y="4133088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6AD55"/>
                </a:solidFill>
              </a:rPr>
              <a:t>Reject H₀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26480" y="3200400"/>
            <a:ext cx="2606040" cy="1463040"/>
          </a:xfrm>
          <a:prstGeom prst="rect">
            <a:avLst/>
          </a:prstGeom>
          <a:solidFill>
            <a:srgbClr val="252849"/>
          </a:solidFill>
          <a:ln w="12700">
            <a:solidFill>
              <a:srgbClr val="7180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263640" y="329184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18096"/>
                </a:solidFill>
              </a:rPr>
              <a:t>Random Noise (Ctrl)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63640" y="3593592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18096"/>
                </a:solidFill>
              </a:rPr>
              <a:t>T-Test (control)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263640" y="384048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p = 0.4329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63640" y="4133088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18096"/>
                </a:solidFill>
              </a:rPr>
              <a:t>Fail to Reject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2377440" cy="2743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STEP D2 — INFERENCE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A2E"/>
                </a:solidFill>
              </a:rPr>
              <a:t>D2 — All Hypothesis Test Results Summary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8412480" cy="3520440"/>
          </a:xfrm>
          <a:prstGeom prst="rect">
            <a:avLst/>
          </a:prstGeom>
          <a:solidFill>
            <a:srgbClr val="F0F4F8"/>
          </a:solidFill>
          <a:ln w="1905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8412480" cy="292608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252728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</a:rPr>
              <a:t>Chart D2 · Hypothesis Test Summary — Significance Bar Chart + Score Distributions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18096"/>
                </a:solidFill>
              </a:rPr>
              <a:t>📥  Paste your chart image here (right-click → Insert Picture in PowerPoint)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4828032"/>
            <a:ext cx="8412480" cy="256032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484632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A5568"/>
                </a:solidFill>
              </a:rPr>
              <a:t>💡  Left panel: -log10(p-value) for all 7 tests — all experience tests cross the α threshold. Right panel: score distributions with means and verdict box showing H₀ REJECTED.</a:t>
            </a:r>
            <a:endParaRPr lang="en-US" sz="8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E664975-326A-9531-D52E-62449D492E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422" y="1216152"/>
            <a:ext cx="8574258" cy="358476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2377440" cy="2743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STEP D2 — INFERENCE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A2E"/>
                </a:solidFill>
              </a:rPr>
              <a:t>F10 — Experience Score → Recommendation Rate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8412480" cy="3520440"/>
          </a:xfrm>
          <a:prstGeom prst="rect">
            <a:avLst/>
          </a:prstGeom>
          <a:solidFill>
            <a:srgbClr val="F0F4F8"/>
          </a:solidFill>
          <a:ln w="1905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8412480" cy="2926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252728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</a:rPr>
              <a:t>Chart F9 · Binned Audience Experience Score vs Recommendation Rate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18096"/>
                </a:solidFill>
              </a:rPr>
              <a:t>📥  Paste your chart image here (right-click → Insert Picture in PowerPoint)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4828032"/>
            <a:ext cx="8412480" cy="256032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484632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A5568"/>
                </a:solidFill>
              </a:rPr>
              <a:t>💡  As the experience score increases bin by bin, recommendation rate rises monotonically. This is the clearest single chart proving the hypothesis.</a:t>
            </a:r>
            <a:endParaRPr lang="en-US" sz="8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0DB3E02-1984-747D-DED0-6922E9A01E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85850"/>
            <a:ext cx="8503920" cy="372389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2377440" cy="27432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STEP E — MODELING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A2E"/>
                </a:solidFill>
              </a:rPr>
              <a:t>Modeling Setup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1920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1920240" cy="54864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44475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A1A2E"/>
                </a:solidFill>
              </a:rPr>
              <a:t>~3,500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11480" y="1942186"/>
            <a:ext cx="1828800" cy="3511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</a:rPr>
              <a:t>Total Rows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14600" y="1261872"/>
            <a:ext cx="1920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514600" y="1261872"/>
            <a:ext cx="192024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560320" y="144475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A896"/>
                </a:solidFill>
              </a:rPr>
              <a:t>~2,800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2560320" y="1942186"/>
            <a:ext cx="1828800" cy="3511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</a:rPr>
              <a:t>Train (80%)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1261872"/>
            <a:ext cx="1920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663440" y="1261872"/>
            <a:ext cx="1920240" cy="54864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09160" y="144475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53E3E"/>
                </a:solidFill>
              </a:rPr>
              <a:t>~700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4709160" y="1942186"/>
            <a:ext cx="1828800" cy="3511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</a:rPr>
              <a:t>Test (20%)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12280" y="1261872"/>
            <a:ext cx="1920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812280" y="1261872"/>
            <a:ext cx="1920240" cy="54864"/>
          </a:xfrm>
          <a:prstGeom prst="rect">
            <a:avLst/>
          </a:prstGeom>
          <a:solidFill>
            <a:srgbClr val="845EC2"/>
          </a:solidFill>
          <a:ln w="12700">
            <a:solidFill>
              <a:srgbClr val="845E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858000" y="144475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845EC2"/>
                </a:solidFill>
              </a:rPr>
              <a:t>19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6858000" y="1942186"/>
            <a:ext cx="1828800" cy="3511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</a:rPr>
              <a:t>Features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514600"/>
            <a:ext cx="411480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65760" y="2514600"/>
            <a:ext cx="4114800" cy="34747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2920" y="255117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Logistic Regression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2944368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</a:rPr>
              <a:t>max_iter = 1000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</a:rPr>
              <a:t>class_weight = 'balanced'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</a:rPr>
              <a:t>Features scaled with StandardScaler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</a:rPr>
              <a:t>Solver = lbfgs (default)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4251960"/>
            <a:ext cx="3749040" cy="594360"/>
          </a:xfrm>
          <a:prstGeom prst="rect">
            <a:avLst/>
          </a:prstGeom>
          <a:solidFill>
            <a:srgbClr val="E6FFFA"/>
          </a:solidFill>
          <a:ln w="1016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40080" y="429768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5568"/>
                </a:solidFill>
              </a:rPr>
              <a:t>Why: Interpretable — provides signed coefficients showing each feature's direction and strength.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09160" y="2514600"/>
            <a:ext cx="411480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709160" y="2514600"/>
            <a:ext cx="4114800" cy="347472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846320" y="255117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Random Forest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92040" y="2944368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</a:rPr>
              <a:t>n_estimators = 200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</a:rPr>
              <a:t>max_depth = 10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</a:rPr>
              <a:t>class_weight = 'balanced'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</a:rPr>
              <a:t>n_jobs = −1 (parallel training)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892040" y="4251960"/>
            <a:ext cx="3749040" cy="594360"/>
          </a:xfrm>
          <a:prstGeom prst="rect">
            <a:avLst/>
          </a:prstGeom>
          <a:solidFill>
            <a:srgbClr val="FFF5F5"/>
          </a:solidFill>
          <a:ln w="1016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983480" y="429768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5568"/>
                </a:solidFill>
              </a:rPr>
              <a:t>Why: Captures non-linear relationships · Gini importance reveals which features truly matter.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2377440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STEP F — EVALUATION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A2E"/>
                </a:solidFill>
              </a:rPr>
              <a:t>F1 — ROC Curves and Precision-Recall Curves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8412480" cy="2926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252728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</a:rPr>
              <a:t>Chart F1 · ROC Curves — LR vs RF vs Random Baseline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18096"/>
                </a:solidFill>
              </a:rPr>
              <a:t>📥  Paste your chart image here (right-click → Insert Picture in PowerPoint)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4828032"/>
            <a:ext cx="8412480" cy="256032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484632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50" dirty="0">
                <a:solidFill>
                  <a:srgbClr val="4A5568"/>
                </a:solidFill>
              </a:rPr>
              <a:t>💡  LR: AUC = 0.7195. RF: AUC = 0.6937. Both well above the 0.5 baseline. LR edges out RF on discrimination — despite RF having higher raw accuracy (0.75 vs 0.65), LR ranks higher on AUC. '. RF is better at catching true positives (recall 85% vs 66%). LR has slightly better precision.</a:t>
            </a:r>
            <a:endParaRPr lang="en-US" sz="8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4776059-8828-9F63-C1CE-6BCBDF0929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168322"/>
            <a:ext cx="4297680" cy="358544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1223D0C-12C8-316B-3130-D52CAA18E3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143000"/>
            <a:ext cx="4297680" cy="3610763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2377440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STEP F — EVALUATION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A2E"/>
                </a:solidFill>
              </a:rPr>
              <a:t>F3 — Confusion Matrices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8412480" cy="3520440"/>
          </a:xfrm>
          <a:prstGeom prst="rect">
            <a:avLst/>
          </a:prstGeom>
          <a:solidFill>
            <a:srgbClr val="F0F4F8"/>
          </a:solidFill>
          <a:ln w="1905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8412480" cy="292608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252728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</a:rPr>
              <a:t>Chart F3 · Confusion Matrices — LR (left) and RF (right)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18096"/>
                </a:solidFill>
              </a:rPr>
              <a:t>📥  Paste your chart image here (right-click → Insert Picture in PowerPoint)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4828032"/>
            <a:ext cx="8412480" cy="256032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484632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/>
              <a:t>True positives (bottom right squares)  are clearly darker thus model is correctly capturing the logic.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CF52700-D6FB-8AA4-1215-DB0F0C4ECA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778" y="1055078"/>
            <a:ext cx="8707901" cy="375466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13AC80F-3853-B0B3-06F0-3885064AA69B}"/>
              </a:ext>
            </a:extLst>
          </p:cNvPr>
          <p:cNvSpPr txBox="1"/>
          <p:nvPr/>
        </p:nvSpPr>
        <p:spPr>
          <a:xfrm>
            <a:off x="5669280" y="232117"/>
            <a:ext cx="107617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800" dirty="0"/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6C7B6D6B-A7A5-A93C-BE13-23BB16CF2A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7720" y="199198"/>
            <a:ext cx="4455066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Top-left: </a:t>
            </a:r>
            <a:r>
              <a:rPr kumimoji="0" lang="en-US" altLang="en-US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True Negatives (TN)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correctly predicted Not Recommended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Top-right: </a:t>
            </a:r>
            <a:r>
              <a:rPr kumimoji="0" lang="en-US" altLang="en-US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False Positives (FP)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predicted Recommended, actually Not Recommended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Bottom-left: </a:t>
            </a:r>
            <a:r>
              <a:rPr kumimoji="0" lang="en-US" altLang="en-US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False Negatives (FN)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predicted Not Recommended, actually Recommended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Bottom-right: </a:t>
            </a:r>
            <a:r>
              <a:rPr kumimoji="0" lang="en-US" altLang="en-US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True Positives (TP)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correctly predicted Recommended 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2377440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STEP F — EVALUATION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A2E"/>
                </a:solidFill>
              </a:rPr>
              <a:t>F4 — Random Forest Feature Importance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8412480" cy="3520440"/>
          </a:xfrm>
          <a:prstGeom prst="rect">
            <a:avLst/>
          </a:prstGeom>
          <a:solidFill>
            <a:srgbClr val="F0F4F8"/>
          </a:solidFill>
          <a:ln w="19050">
            <a:solidFill>
              <a:srgbClr val="F6AD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8412480" cy="292608"/>
          </a:xfrm>
          <a:prstGeom prst="rect">
            <a:avLst/>
          </a:prstGeom>
          <a:solidFill>
            <a:srgbClr val="F6AD55"/>
          </a:solidFill>
          <a:ln w="12700">
            <a:solidFill>
              <a:srgbClr val="F6AD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252728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</a:rPr>
              <a:t>Chart F4 · RF Gini Feature Importance — Top 15 Features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18096"/>
                </a:solidFill>
              </a:rPr>
              <a:t>📥  Paste your chart image here (right-click → Insert Picture in PowerPoint)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4828032"/>
            <a:ext cx="8412480" cy="256032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02920" y="484632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A5568"/>
                </a:solidFill>
              </a:rPr>
              <a:t>💡  audience_experience_score ranks #1 — directly confirming our engineered feature captures what matters most.</a:t>
            </a:r>
            <a:endParaRPr lang="en-US" sz="8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D2AE4F5-76A1-54FE-EC65-9A945CBBCF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421" y="1062111"/>
            <a:ext cx="8546123" cy="3784209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2377440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STEP F — EVALUATION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A2E"/>
                </a:solidFill>
              </a:rPr>
              <a:t>F8 — 5-Fold Cross-Validation AUC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8412480" cy="3520440"/>
          </a:xfrm>
          <a:prstGeom prst="rect">
            <a:avLst/>
          </a:prstGeom>
          <a:solidFill>
            <a:srgbClr val="F0F4F8"/>
          </a:solidFill>
          <a:ln w="19050">
            <a:solidFill>
              <a:srgbClr val="845E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8412480" cy="292608"/>
          </a:xfrm>
          <a:prstGeom prst="rect">
            <a:avLst/>
          </a:prstGeom>
          <a:solidFill>
            <a:srgbClr val="845EC2"/>
          </a:solidFill>
          <a:ln w="12700">
            <a:solidFill>
              <a:srgbClr val="845E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252728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</a:rPr>
              <a:t>Chart F7 · CV AUC per Fold — LR and RF side by side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18096"/>
                </a:solidFill>
              </a:rPr>
              <a:t>📥  Paste your chart image here (right-click → Insert Picture in PowerPoint)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4828032"/>
            <a:ext cx="8412480" cy="256032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484632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A5568"/>
                </a:solidFill>
              </a:rPr>
              <a:t>💡  LR CV AUC: 0.7533 ± 0.0275. RF CV AUC: 0.7261 ± 0.0264. Low std deviation across all 5 folds confirms both models generalise well. LR is more consistent and achieves higher mean AUC.</a:t>
            </a:r>
            <a:endParaRPr lang="en-US" sz="8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B9069FE-E593-9005-1A78-BA0B41F0E5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387" y="1019908"/>
            <a:ext cx="8553157" cy="3789836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2377440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STEP F — EVALUATION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A2E"/>
                </a:solidFill>
              </a:rPr>
              <a:t>F9 — Model Comparison Dashboard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8412480" cy="3520440"/>
          </a:xfrm>
          <a:prstGeom prst="rect">
            <a:avLst/>
          </a:prstGeom>
          <a:solidFill>
            <a:srgbClr val="F0F4F8"/>
          </a:solidFill>
          <a:ln w="1905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8412480" cy="292608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252728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</a:rPr>
              <a:t>Chart F8 · Side-by-Side Bar: LR vs RF across 6 Metrics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18096"/>
                </a:solidFill>
              </a:rPr>
              <a:t>📥  Paste your chart image here (right-click → Insert Picture in PowerPoint)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4828032"/>
            <a:ext cx="8412480" cy="256032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484632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A5568"/>
                </a:solidFill>
              </a:rPr>
              <a:t>💡  LR wins on: ROC-AUC (0.7195 vs 0.6937), Balanced Acc. (0.639 vs 0.634), Avg Precision (0.893 vs 0.880), CV AUC (0.753 vs 0.726). RF wins on: Accuracy (0.753 vs 0.650) and F1-macro (0.636 vs 0.593). No single clear winner — depends on the priority metric.</a:t>
            </a:r>
            <a:endParaRPr lang="en-US" sz="8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5F22C86-DE22-3773-173E-BCAB317ED6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206182"/>
            <a:ext cx="8616462" cy="364013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2377440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STEP F — EVALUATION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A2E"/>
                </a:solidFill>
              </a:rPr>
              <a:t>Model Results — Actual Metrics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8412480" cy="3657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Metric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377440" y="13258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Logistic Regression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303520" y="13258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Random Forest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863840" y="13258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Better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664208"/>
            <a:ext cx="84124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177393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5568"/>
                </a:solidFill>
              </a:rPr>
              <a:t>Accuracy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377440" y="177393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5568"/>
                </a:solidFill>
              </a:rPr>
              <a:t>0.6500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03520" y="177393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53E3E"/>
                </a:solidFill>
              </a:rPr>
              <a:t>0.7529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863840" y="1746504"/>
            <a:ext cx="777240" cy="274320"/>
          </a:xfrm>
          <a:prstGeom prst="rect">
            <a:avLst/>
          </a:prstGeom>
          <a:solidFill>
            <a:srgbClr val="FFF5F5"/>
          </a:solidFill>
          <a:ln w="1016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863840" y="174650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53E3E"/>
                </a:solidFill>
              </a:rPr>
              <a:t>RF ✓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176272"/>
            <a:ext cx="8412480" cy="457200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228600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5568"/>
                </a:solidFill>
              </a:rPr>
              <a:t>Balanced Acc.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377440" y="228600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896"/>
                </a:solidFill>
              </a:rPr>
              <a:t>0.6390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303520" y="228600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5568"/>
                </a:solidFill>
              </a:rPr>
              <a:t>0.6335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863840" y="2258568"/>
            <a:ext cx="777240" cy="274320"/>
          </a:xfrm>
          <a:prstGeom prst="rect">
            <a:avLst/>
          </a:prstGeom>
          <a:solidFill>
            <a:srgbClr val="E6FFFA"/>
          </a:solidFill>
          <a:ln w="1016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863840" y="225856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A896"/>
                </a:solidFill>
              </a:rPr>
              <a:t>LR ✓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2688336"/>
            <a:ext cx="84124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48640" y="279806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5568"/>
                </a:solidFill>
              </a:rPr>
              <a:t>ROC-AUC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377440" y="279806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896"/>
                </a:solidFill>
              </a:rPr>
              <a:t>0.7195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303520" y="279806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5568"/>
                </a:solidFill>
              </a:rPr>
              <a:t>0.6937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863840" y="2770632"/>
            <a:ext cx="777240" cy="274320"/>
          </a:xfrm>
          <a:prstGeom prst="rect">
            <a:avLst/>
          </a:prstGeom>
          <a:solidFill>
            <a:srgbClr val="E6FFFA"/>
          </a:solidFill>
          <a:ln w="1016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863840" y="27706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A896"/>
                </a:solidFill>
              </a:rPr>
              <a:t>LR ✓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65760" y="3200400"/>
            <a:ext cx="8412480" cy="457200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48640" y="331012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5568"/>
                </a:solidFill>
              </a:rPr>
              <a:t>F1 (macro)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377440" y="33101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5568"/>
                </a:solidFill>
              </a:rPr>
              <a:t>0.5925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303520" y="331012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53E3E"/>
                </a:solidFill>
              </a:rPr>
              <a:t>0.6357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863840" y="3282696"/>
            <a:ext cx="777240" cy="274320"/>
          </a:xfrm>
          <a:prstGeom prst="rect">
            <a:avLst/>
          </a:prstGeom>
          <a:solidFill>
            <a:srgbClr val="FFF5F5"/>
          </a:solidFill>
          <a:ln w="1016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863840" y="328269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53E3E"/>
                </a:solidFill>
              </a:rPr>
              <a:t>RF ✓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65760" y="3712464"/>
            <a:ext cx="84124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48640" y="382219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5568"/>
                </a:solidFill>
              </a:rPr>
              <a:t>Avg. Precision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377440" y="382219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896"/>
                </a:solidFill>
              </a:rPr>
              <a:t>0.8926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303520" y="382219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5568"/>
                </a:solidFill>
              </a:rPr>
              <a:t>0.8797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7863840" y="3794760"/>
            <a:ext cx="777240" cy="274320"/>
          </a:xfrm>
          <a:prstGeom prst="rect">
            <a:avLst/>
          </a:prstGeom>
          <a:solidFill>
            <a:srgbClr val="E6FFFA"/>
          </a:solidFill>
          <a:ln w="1016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7863840" y="379476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A896"/>
                </a:solidFill>
              </a:rPr>
              <a:t>LR ✓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65760" y="4224528"/>
            <a:ext cx="8412480" cy="457200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48640" y="433425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5568"/>
                </a:solidFill>
              </a:rPr>
              <a:t>CV AUC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2377440" y="433425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896"/>
                </a:solidFill>
              </a:rPr>
              <a:t>0.7533 ± 0.0275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303520" y="433425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5568"/>
                </a:solidFill>
              </a:rPr>
              <a:t>0.7261 ± 0.0264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7863840" y="4306824"/>
            <a:ext cx="777240" cy="274320"/>
          </a:xfrm>
          <a:prstGeom prst="rect">
            <a:avLst/>
          </a:prstGeom>
          <a:solidFill>
            <a:srgbClr val="E6FFFA"/>
          </a:solidFill>
          <a:ln w="1016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7863840" y="430682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A896"/>
                </a:solidFill>
              </a:rPr>
              <a:t>LR ✓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65760" y="4828032"/>
            <a:ext cx="8412480" cy="256032"/>
          </a:xfrm>
          <a:prstGeom prst="rect">
            <a:avLst/>
          </a:prstGeom>
          <a:solidFill>
            <a:srgbClr val="EBF8FF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502920" y="484632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</a:rPr>
              <a:t>LR wins: AUC, Balanced Acc., Avg Precision, CV AUC  ·  RF wins: Accuracy, F1-macro  ·  Best model depends on business priority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228600"/>
            <a:ext cx="822960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Key Findings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987552"/>
            <a:ext cx="8229600" cy="777240"/>
          </a:xfrm>
          <a:prstGeom prst="rect">
            <a:avLst/>
          </a:prstGeom>
          <a:solidFill>
            <a:srgbClr val="252849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566928" y="1170432"/>
            <a:ext cx="411480" cy="411480"/>
          </a:xfrm>
          <a:prstGeom prst="ellipse">
            <a:avLst/>
          </a:prstGeom>
          <a:solidFill>
            <a:srgbClr val="F6AD55"/>
          </a:solidFill>
          <a:ln w="12700">
            <a:solidFill>
              <a:srgbClr val="F6AD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66928" y="11704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115568" y="1060704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6AD55"/>
                </a:solidFill>
              </a:rPr>
              <a:t>Hypothesis Supported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1115568" y="1371600"/>
            <a:ext cx="7406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0"/>
                </a:solidFill>
              </a:rPr>
              <a:t>5 out of 6 formal tests rejected H₀ at α = 0.05. audience_experience_score shows p = 1.20e-80 with Cohen's d = 0.827 (Large effect). Positive experience significantly increases recommendation likelihood.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57200" y="1901952"/>
            <a:ext cx="8229600" cy="777240"/>
          </a:xfrm>
          <a:prstGeom prst="rect">
            <a:avLst/>
          </a:prstGeom>
          <a:solidFill>
            <a:srgbClr val="252849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66928" y="2084832"/>
            <a:ext cx="411480" cy="41148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66928" y="20848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115568" y="1975104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A896"/>
                </a:solidFill>
              </a:rPr>
              <a:t>Top Predictors Identified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1115568" y="2286000"/>
            <a:ext cx="7406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0"/>
                </a:solidFill>
              </a:rPr>
              <a:t>audience_experience_score is the strongest predictor (r = 0.313). sentiment_score (r = 0.257) and watch_time_ratio (r = 0.190) follow. Control features random_noise (r = -0.003) and thumbnail_hue (r = 0.011) show no effect.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57200" y="2816352"/>
            <a:ext cx="8229600" cy="777240"/>
          </a:xfrm>
          <a:prstGeom prst="rect">
            <a:avLst/>
          </a:prstGeom>
          <a:solidFill>
            <a:srgbClr val="252849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566928" y="2999232"/>
            <a:ext cx="411480" cy="411480"/>
          </a:xfrm>
          <a:prstGeom prst="ellipse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66928" y="29992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115568" y="2889504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53E3E"/>
                </a:solidFill>
              </a:rPr>
              <a:t>Model Performance — No Clear Single Winner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1115568" y="3200400"/>
            <a:ext cx="7406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0"/>
                </a:solidFill>
              </a:rPr>
              <a:t>LR leads on AUC (0.7195 vs 0.6937) and Avg Precision (0.893 vs 0.880). RF leads on Accuracy (0.753 vs 0.650) and F1-macro (0.636 vs 0.593). Both stable across 5-fold CV.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57200" y="3730752"/>
            <a:ext cx="8229600" cy="777240"/>
          </a:xfrm>
          <a:prstGeom prst="rect">
            <a:avLst/>
          </a:prstGeom>
          <a:solidFill>
            <a:srgbClr val="252849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566928" y="3913632"/>
            <a:ext cx="411480" cy="411480"/>
          </a:xfrm>
          <a:prstGeom prst="ellipse">
            <a:avLst/>
          </a:prstGeom>
          <a:solidFill>
            <a:srgbClr val="845EC2"/>
          </a:solidFill>
          <a:ln w="12700">
            <a:solidFill>
              <a:srgbClr val="845E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566928" y="39136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</a:rPr>
              <a:t>4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115568" y="3803904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845EC2"/>
                </a:solidFill>
              </a:rPr>
              <a:t>ANOVA &amp; Category: No Significant Difference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1115568" y="4114800"/>
            <a:ext cx="7406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0"/>
                </a:solidFill>
              </a:rPr>
              <a:t>One-Way ANOVA: F = 1.09, p = 0.362 — experience score does not significantly differ across categories. Category chi-square p = 0.180 — category alone does not predict recommendation.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Conclusion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87552"/>
            <a:ext cx="8229600" cy="1463040"/>
          </a:xfrm>
          <a:prstGeom prst="rect">
            <a:avLst/>
          </a:prstGeom>
          <a:solidFill>
            <a:srgbClr val="0D3349"/>
          </a:solidFill>
          <a:ln w="1905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060704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96"/>
                </a:solidFill>
              </a:rPr>
              <a:t>Hypothesis Conclusion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389888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Positive audience experience — measured through watch time, comment sentiment, and engagement — significantly and consistently increases the probability of a viewer recommending YouTube content. All statistical tests confirm this at α = 0.05 with large effect sizes.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547446" y="2651760"/>
            <a:ext cx="2606040" cy="2011680"/>
          </a:xfrm>
          <a:prstGeom prst="rect">
            <a:avLst/>
          </a:prstGeom>
          <a:solidFill>
            <a:srgbClr val="252849"/>
          </a:solidFill>
          <a:ln w="12700">
            <a:solidFill>
              <a:srgbClr val="F6AD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547446" y="2651760"/>
            <a:ext cx="2606040" cy="54864"/>
          </a:xfrm>
          <a:prstGeom prst="rect">
            <a:avLst/>
          </a:prstGeom>
          <a:solidFill>
            <a:srgbClr val="F6AD55"/>
          </a:solidFill>
          <a:ln w="12700">
            <a:solidFill>
              <a:srgbClr val="F6AD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684606" y="278892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6AD55"/>
                </a:solidFill>
              </a:rPr>
              <a:t>For Creators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684606" y="3182112"/>
            <a:ext cx="2331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0"/>
                </a:solidFill>
              </a:rPr>
              <a:t>Focus on viewer retention and encouraging positive comments. High watch-time is the single most actionable metric.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212080" y="2651760"/>
            <a:ext cx="2606040" cy="2011680"/>
          </a:xfrm>
          <a:prstGeom prst="rect">
            <a:avLst/>
          </a:prstGeom>
          <a:solidFill>
            <a:srgbClr val="252849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212080" y="2651760"/>
            <a:ext cx="260604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349240" y="278892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</a:rPr>
              <a:t>For Platforms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49240" y="3182112"/>
            <a:ext cx="2331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0"/>
                </a:solidFill>
              </a:rPr>
              <a:t>Recommendation algorithms should weight audience experience signals heavily — not just raw engagement counts.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263640" y="278892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849"/>
          </a:solidFill>
          <a:ln w="12700">
            <a:solidFill>
              <a:srgbClr val="2528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2331720"/>
            <a:ext cx="9144000" cy="54864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4760" y="411480"/>
            <a:ext cx="1554480" cy="1554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487168"/>
            <a:ext cx="7315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</a:rPr>
              <a:t>Thank You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914400" y="3401568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0A896"/>
                </a:solidFill>
              </a:rPr>
              <a:t>Questions &amp; Discussion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914400" y="3886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18096"/>
                </a:solidFill>
              </a:rPr>
              <a:t>IT3011 — Theory &amp; Practices in Statistical Modeling  ·  Final Viva Presentation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914400" y="45262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D4A5C"/>
                </a:solidFill>
              </a:rPr>
              <a:t>generate_dataset.py   ·   youtube_analytics.ipynb   ·   Logistic Regression + Random Forest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2502</TotalTime>
  <Words>2314</Words>
  <Application>Microsoft Office PowerPoint</Application>
  <PresentationFormat>On-screen Show (16:9)</PresentationFormat>
  <Paragraphs>340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YouTube Analytics — Audience Experience &amp; Recommendation</dc:title>
  <dc:subject>PptxGenJS Presentation</dc:subject>
  <dc:creator>PptxGenJS</dc:creator>
  <cp:lastModifiedBy>PATHIRANA P U O R it23830332</cp:lastModifiedBy>
  <cp:revision>24</cp:revision>
  <dcterms:created xsi:type="dcterms:W3CDTF">2026-04-26T03:35:15Z</dcterms:created>
  <dcterms:modified xsi:type="dcterms:W3CDTF">2026-04-28T12:22:47Z</dcterms:modified>
</cp:coreProperties>
</file>